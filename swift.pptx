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6658D9-2409-D857-06B1-45FD1FF56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96267C8-6F0D-1C01-E341-DBD373EB4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484592-B681-132B-78EB-BDB1F7B3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4A16-68AA-405F-9964-6946ED9596D9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E8AEDA-230B-B710-A39D-EB1523F59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E186A9-0EB9-9FDC-4C45-7237CA4A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F2D5-E598-43F6-9A42-66871B6C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91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7812B-4BF6-7A9F-3E59-852D635E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2562AE-CD2E-7D58-F43A-8ED06B7D3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17D89E-0122-8480-BB2C-F34BA685A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4A16-68AA-405F-9964-6946ED9596D9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51DC4E-7CB9-3C22-7093-1FACBC8A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962DBE-7E81-8055-27D0-AC0F2DBA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F2D5-E598-43F6-9A42-66871B6C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015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0CC10-3C24-7AA8-231A-D0B445CF0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D92978-AF03-B0FC-B9A9-8EB03FC06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BD294B-BC2C-17A0-A9B9-59C27B20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4A16-68AA-405F-9964-6946ED9596D9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B5B069-BC68-9D77-EB77-891914C16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9301B6-0E60-1BB4-184B-64E5B08C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F2D5-E598-43F6-9A42-66871B6C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50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93EA4-8E04-D8F0-C97E-EA545872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A37938-C944-0E09-E225-5D7C92D00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2E7D72-6652-0924-F963-41DCE38AF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384D44-B791-F8D2-5211-33C5613A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4A16-68AA-405F-9964-6946ED9596D9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520853-E672-7ECE-4B70-61A603F4D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C4DAE0-C0CC-D963-2939-B62C286ED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F2D5-E598-43F6-9A42-66871B6C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69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8890A-073E-B1A7-A261-9A6E90C5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539BB9-E81F-A4A3-0E7D-59E91E220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3F11B8-9F13-D943-31B8-11A1CA3DE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39B45CD-194F-1150-E4E9-7A440182D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5A390E3-2C3C-61BD-5DF5-F869B0FDD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0FFAA08-111E-0FF4-B493-BB3658345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4A16-68AA-405F-9964-6946ED9596D9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007259D-13B8-CD6F-1E5C-87C8144D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7A41A54-7678-BB2F-44B0-7A85C75A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F2D5-E598-43F6-9A42-66871B6C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51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B1CDB-A028-0D5A-CA6F-F05ED9AC3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ED463B6-7AEA-74FA-4272-B5A909AC0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4A16-68AA-405F-9964-6946ED9596D9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46C2D42-5D14-AC78-23B4-408C34B1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583B79-A1B6-5F41-8BE3-C7F575F2A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F2D5-E598-43F6-9A42-66871B6C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494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F117983-D41F-046B-D47D-5D761E5B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4A16-68AA-405F-9964-6946ED9596D9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18EE664-7AFC-64CB-98C9-1A0C6484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5CDAB0-0EB4-173A-9737-5BB230A7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F2D5-E598-43F6-9A42-66871B6C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357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E5785-E6C4-E254-4BF0-620C9D32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75B955-23FE-13CD-2F69-95C54FF34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00C3E5A-E9FE-0172-6C7C-C37E4E3BD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8EBB86-8374-5E90-57CD-43379E7C4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4A16-68AA-405F-9964-6946ED9596D9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0284D3-0BB4-D45F-81EE-1BE65F32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C762B-A71A-2411-2307-681CEAD1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F2D5-E598-43F6-9A42-66871B6C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74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EF5C5-CC85-577F-1A37-233000AB8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F2CC832-F75E-C91F-484E-6F7F0D81F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582185-790B-242D-D263-801245A0B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9E1973-A593-F8EA-CAAF-F63F6AFF2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4A16-68AA-405F-9964-6946ED9596D9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4C8F0A-95B5-58F3-2924-308B0A1C3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8F9E86-F837-8B3F-ED5A-9D2B16CD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F2D5-E598-43F6-9A42-66871B6C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319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32AF9-1370-0DAD-E35F-C6B07AC7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C59373-430A-5F7B-87B5-854E11568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82AEAC-4D36-0424-5158-F7A49204D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4A16-68AA-405F-9964-6946ED9596D9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8ECD56-05AF-72F3-B7AC-379B02C2C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4474AE-6313-E25D-5F39-C38A9CB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F2D5-E598-43F6-9A42-66871B6C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501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C6EE4CA-DAF7-1A65-5EFE-F980B53C3B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B35CAA-3EC6-BD13-A2C9-331972691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A5B8D7-1FEC-EE4C-F952-CA491E00D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4A16-68AA-405F-9964-6946ED9596D9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11F62A-69A8-2F13-2604-4ABF69410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83F867-CAD0-B113-1222-537E6188A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1F2D5-E598-43F6-9A42-66871B6C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098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13686F-A37B-9C6D-4AEA-BAAA5A682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65FA12-8563-0238-058F-8F7084894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F3415E-1CE0-C703-8580-1FA6E5B7A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74A16-68AA-405F-9964-6946ED9596D9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CA11EA-EE6E-9A3B-E032-6E623D3AC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685C58-8E34-E6CF-07A3-75F00031D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1F2D5-E598-43F6-9A42-66871B6C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50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E6E28C-068A-F7A3-333D-EBEC2157E113}"/>
              </a:ext>
            </a:extLst>
          </p:cNvPr>
          <p:cNvSpPr txBox="1"/>
          <p:nvPr/>
        </p:nvSpPr>
        <p:spPr>
          <a:xfrm>
            <a:off x="2065606" y="1012874"/>
            <a:ext cx="80607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Bahnschrift" panose="020B0502040204020203" pitchFamily="34" charset="0"/>
              </a:rPr>
              <a:t>SwiftUI</a:t>
            </a:r>
            <a:r>
              <a:rPr lang="en-US" sz="2000" dirty="0">
                <a:latin typeface="Bahnschrift" panose="020B0502040204020203" pitchFamily="34" charset="0"/>
              </a:rPr>
              <a:t> Layout System — </a:t>
            </a:r>
            <a:r>
              <a:rPr lang="en-US" sz="2000" dirty="0" err="1">
                <a:latin typeface="Bahnschrift" panose="020B0502040204020203" pitchFamily="34" charset="0"/>
              </a:rPr>
              <a:t>HStack</a:t>
            </a:r>
            <a:r>
              <a:rPr lang="en-US" sz="2000" dirty="0">
                <a:latin typeface="Bahnschrift" panose="020B0502040204020203" pitchFamily="34" charset="0"/>
              </a:rPr>
              <a:t>/</a:t>
            </a:r>
            <a:r>
              <a:rPr lang="en-US" sz="2000" dirty="0" err="1">
                <a:latin typeface="Bahnschrift" panose="020B0502040204020203" pitchFamily="34" charset="0"/>
              </a:rPr>
              <a:t>VStack</a:t>
            </a:r>
            <a:r>
              <a:rPr lang="en-US" sz="2000" dirty="0">
                <a:latin typeface="Bahnschrift" panose="020B0502040204020203" pitchFamily="34" charset="0"/>
              </a:rPr>
              <a:t>/</a:t>
            </a:r>
            <a:r>
              <a:rPr lang="en-US" sz="2000" dirty="0" err="1">
                <a:latin typeface="Bahnschrift" panose="020B0502040204020203" pitchFamily="34" charset="0"/>
              </a:rPr>
              <a:t>ZStack</a:t>
            </a:r>
            <a:r>
              <a:rPr lang="en-US" sz="2000" dirty="0">
                <a:latin typeface="Bahnschrift" panose="020B0502040204020203" pitchFamily="34" charset="0"/>
              </a:rPr>
              <a:t>, </a:t>
            </a:r>
            <a:r>
              <a:rPr lang="en-US" sz="2000" dirty="0" err="1">
                <a:latin typeface="Bahnschrift" panose="020B0502040204020203" pitchFamily="34" charset="0"/>
              </a:rPr>
              <a:t>GeometryReader</a:t>
            </a:r>
            <a:r>
              <a:rPr lang="en-US" sz="2000" dirty="0">
                <a:latin typeface="Bahnschrift" panose="020B0502040204020203" pitchFamily="34" charset="0"/>
              </a:rPr>
              <a:t>, Layout protocol (iOS 16+)</a:t>
            </a:r>
            <a:endParaRPr lang="ru-RU" sz="2000" dirty="0">
              <a:latin typeface="Bahnschrift" panose="020B0502040204020203" pitchFamily="34" charset="0"/>
            </a:endParaRPr>
          </a:p>
        </p:txBody>
      </p:sp>
      <p:pic>
        <p:nvPicPr>
          <p:cNvPr id="1026" name="Picture 2" descr="SwiftUI — HStack VStack and ZStack | by Manish Pathak | Medium">
            <a:extLst>
              <a:ext uri="{FF2B5EF4-FFF2-40B4-BE49-F238E27FC236}">
                <a16:creationId xmlns:a16="http://schemas.microsoft.com/office/drawing/2014/main" id="{2CE15000-75C0-7443-82EF-007EABA41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2235884"/>
            <a:ext cx="90297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657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3A8122-A3E0-2F8E-29D9-D3CB6B3B28E7}"/>
              </a:ext>
            </a:extLst>
          </p:cNvPr>
          <p:cNvSpPr txBox="1"/>
          <p:nvPr/>
        </p:nvSpPr>
        <p:spPr>
          <a:xfrm>
            <a:off x="2628314" y="1026941"/>
            <a:ext cx="6935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Bahnschrift" panose="020B0502040204020203" pitchFamily="34" charset="0"/>
              </a:rPr>
              <a:t>Для чего нужен?</a:t>
            </a:r>
          </a:p>
        </p:txBody>
      </p:sp>
      <p:pic>
        <p:nvPicPr>
          <p:cNvPr id="4" name="Рисунок 3" descr="Изображение выглядит как снимок экрана, текст, Мобильный телефон, гадж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D81BAA2-7EA6-4EEE-8CF1-F28CAFC1C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9987"/>
            <a:ext cx="5681537" cy="3031633"/>
          </a:xfrm>
          <a:prstGeom prst="rect">
            <a:avLst/>
          </a:prstGeom>
        </p:spPr>
      </p:pic>
      <p:pic>
        <p:nvPicPr>
          <p:cNvPr id="6" name="Рисунок 5" descr="Изображение выглядит как снимок экрана, текст, Мобильный телефон, Устройство связ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B430AA5-992D-B4F2-79BF-C20FBD131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92375"/>
            <a:ext cx="5190216" cy="28100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401A2F-7568-3545-9F0C-74A388CDC942}"/>
              </a:ext>
            </a:extLst>
          </p:cNvPr>
          <p:cNvSpPr txBox="1"/>
          <p:nvPr/>
        </p:nvSpPr>
        <p:spPr>
          <a:xfrm>
            <a:off x="6418794" y="2230549"/>
            <a:ext cx="4867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Arial Black" panose="020B0A04020102020204" pitchFamily="34" charset="0"/>
              </a:rPr>
              <a:t>В чем разница?</a:t>
            </a:r>
          </a:p>
        </p:txBody>
      </p:sp>
    </p:spTree>
    <p:extLst>
      <p:ext uri="{BB962C8B-B14F-4D97-AF65-F5344CB8AC3E}">
        <p14:creationId xmlns:p14="http://schemas.microsoft.com/office/powerpoint/2010/main" val="3294262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7A94ED-BBD3-4E45-A9DC-CDB7B8867572}"/>
              </a:ext>
            </a:extLst>
          </p:cNvPr>
          <p:cNvSpPr txBox="1"/>
          <p:nvPr/>
        </p:nvSpPr>
        <p:spPr>
          <a:xfrm>
            <a:off x="3613052" y="379826"/>
            <a:ext cx="496589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Bahnschrift" panose="020B0502040204020203" pitchFamily="34" charset="0"/>
              </a:rPr>
              <a:t>HStack</a:t>
            </a:r>
            <a:r>
              <a:rPr lang="en-US" sz="2000" dirty="0">
                <a:latin typeface="Bahnschrift" panose="020B0502040204020203" pitchFamily="34" charset="0"/>
              </a:rPr>
              <a:t> - </a:t>
            </a:r>
            <a:r>
              <a:rPr lang="ru-RU" sz="2000" dirty="0">
                <a:latin typeface="Bahnschrift" panose="020B0502040204020203" pitchFamily="34" charset="0"/>
              </a:rPr>
              <a:t>горизонтальное размещение</a:t>
            </a:r>
          </a:p>
          <a:p>
            <a:pPr algn="ctr"/>
            <a:endParaRPr lang="ru-RU" dirty="0"/>
          </a:p>
        </p:txBody>
      </p:sp>
      <p:pic>
        <p:nvPicPr>
          <p:cNvPr id="6" name="Рисунок 5" descr="Изображение выглядит как текст, снимок экрана, Шрифт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9B91D5-0676-B7B4-D167-A1C701A28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6934"/>
            <a:ext cx="7733627" cy="28257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12B217-080B-9A19-CF5A-894CFE503E58}"/>
              </a:ext>
            </a:extLst>
          </p:cNvPr>
          <p:cNvSpPr txBox="1"/>
          <p:nvPr/>
        </p:nvSpPr>
        <p:spPr>
          <a:xfrm>
            <a:off x="8046720" y="3429000"/>
            <a:ext cx="37420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Ключевые параметры:</a:t>
            </a:r>
            <a:br>
              <a:rPr lang="ru-RU" b="1" dirty="0"/>
            </a:br>
            <a:endParaRPr lang="ru-RU" dirty="0"/>
          </a:p>
          <a:p>
            <a:r>
              <a:rPr lang="ru-RU" i="1" dirty="0" err="1"/>
              <a:t>alignment</a:t>
            </a:r>
            <a:r>
              <a:rPr lang="ru-RU" dirty="0"/>
              <a:t>:  вертикальное выравнивание (.</a:t>
            </a:r>
            <a:r>
              <a:rPr lang="ru-RU" dirty="0" err="1"/>
              <a:t>top</a:t>
            </a:r>
            <a:r>
              <a:rPr lang="ru-RU" dirty="0"/>
              <a:t>, .</a:t>
            </a:r>
            <a:r>
              <a:rPr lang="ru-RU" dirty="0" err="1"/>
              <a:t>center</a:t>
            </a:r>
            <a:r>
              <a:rPr lang="ru-RU" dirty="0"/>
              <a:t>, .</a:t>
            </a:r>
            <a:r>
              <a:rPr lang="ru-RU" dirty="0" err="1"/>
              <a:t>bottom</a:t>
            </a:r>
            <a:r>
              <a:rPr lang="ru-RU" dirty="0"/>
              <a:t>)</a:t>
            </a:r>
            <a:br>
              <a:rPr lang="ru-RU" dirty="0"/>
            </a:br>
            <a:endParaRPr lang="ru-RU" dirty="0"/>
          </a:p>
          <a:p>
            <a:r>
              <a:rPr lang="ru-RU" i="1" dirty="0" err="1"/>
              <a:t>spacing</a:t>
            </a:r>
            <a:r>
              <a:rPr lang="ru-RU" dirty="0"/>
              <a:t>:  расстояние между элементами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4320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D68534-8A0B-377F-49C6-07DAE982B8C7}"/>
              </a:ext>
            </a:extLst>
          </p:cNvPr>
          <p:cNvSpPr txBox="1"/>
          <p:nvPr/>
        </p:nvSpPr>
        <p:spPr>
          <a:xfrm>
            <a:off x="2459501" y="338554"/>
            <a:ext cx="727299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Bahnschrift" panose="020B0502040204020203" pitchFamily="34" charset="0"/>
              </a:rPr>
              <a:t>VStack</a:t>
            </a:r>
            <a:r>
              <a:rPr lang="en-US" sz="2000" dirty="0">
                <a:latin typeface="Bahnschrift" panose="020B0502040204020203" pitchFamily="34" charset="0"/>
              </a:rPr>
              <a:t> - </a:t>
            </a:r>
            <a:r>
              <a:rPr lang="ru-RU" sz="2000" dirty="0">
                <a:latin typeface="Bahnschrift" panose="020B0502040204020203" pitchFamily="34" charset="0"/>
              </a:rPr>
              <a:t>вертикальное размещение</a:t>
            </a:r>
          </a:p>
          <a:p>
            <a:endParaRPr lang="ru-RU" dirty="0"/>
          </a:p>
        </p:txBody>
      </p:sp>
      <p:pic>
        <p:nvPicPr>
          <p:cNvPr id="3074" name="Picture 2" descr="SwiftUI уроки (часть 3) / Хабр">
            <a:extLst>
              <a:ext uri="{FF2B5EF4-FFF2-40B4-BE49-F238E27FC236}">
                <a16:creationId xmlns:a16="http://schemas.microsoft.com/office/drawing/2014/main" id="{78348D61-7A34-ADFE-D749-BE9B73F91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78" y="1015662"/>
            <a:ext cx="6040388" cy="3216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C43C1A-FF87-5F46-923D-33CBEE424510}"/>
              </a:ext>
            </a:extLst>
          </p:cNvPr>
          <p:cNvSpPr txBox="1"/>
          <p:nvPr/>
        </p:nvSpPr>
        <p:spPr>
          <a:xfrm>
            <a:off x="7287064" y="4389121"/>
            <a:ext cx="4572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Особенности:</a:t>
            </a:r>
            <a:endParaRPr lang="ru-RU" dirty="0"/>
          </a:p>
          <a:p>
            <a:r>
              <a:rPr lang="ru-RU" dirty="0"/>
              <a:t>Автоматическое растягивание по ширине самого широкого элемента</a:t>
            </a:r>
          </a:p>
          <a:p>
            <a:r>
              <a:rPr lang="ru-RU" dirty="0"/>
              <a:t>Поддержка различных выравниваний (.</a:t>
            </a:r>
            <a:r>
              <a:rPr lang="ru-RU" dirty="0" err="1"/>
              <a:t>leading</a:t>
            </a:r>
            <a:r>
              <a:rPr lang="ru-RU" dirty="0"/>
              <a:t>, .</a:t>
            </a:r>
            <a:r>
              <a:rPr lang="ru-RU" dirty="0" err="1"/>
              <a:t>center</a:t>
            </a:r>
            <a:r>
              <a:rPr lang="ru-RU" dirty="0"/>
              <a:t>, .</a:t>
            </a:r>
            <a:r>
              <a:rPr lang="ru-RU" dirty="0" err="1"/>
              <a:t>trailing</a:t>
            </a:r>
            <a:r>
              <a:rPr lang="ru-RU" dirty="0"/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9237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5D3C46-51A3-1C21-10BD-3CD656D3F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0808"/>
            <a:ext cx="6212715" cy="59283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50B369-6D30-9E57-8825-F3864F4ED665}"/>
              </a:ext>
            </a:extLst>
          </p:cNvPr>
          <p:cNvSpPr txBox="1"/>
          <p:nvPr/>
        </p:nvSpPr>
        <p:spPr>
          <a:xfrm>
            <a:off x="2715065" y="168812"/>
            <a:ext cx="76528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Bahnschrift" panose="020B0502040204020203" pitchFamily="34" charset="0"/>
              </a:rPr>
              <a:t>ZStack</a:t>
            </a:r>
            <a:r>
              <a:rPr lang="en-US" sz="2000" dirty="0">
                <a:latin typeface="Bahnschrift" panose="020B0502040204020203" pitchFamily="34" charset="0"/>
              </a:rPr>
              <a:t> - </a:t>
            </a:r>
            <a:r>
              <a:rPr lang="ru-RU" sz="2000" dirty="0">
                <a:latin typeface="Bahnschrift" panose="020B0502040204020203" pitchFamily="34" charset="0"/>
              </a:rPr>
              <a:t>наложение</a:t>
            </a:r>
          </a:p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CAAFFB-88E1-1D2D-5D90-73E0A09E7507}"/>
              </a:ext>
            </a:extLst>
          </p:cNvPr>
          <p:cNvSpPr txBox="1"/>
          <p:nvPr/>
        </p:nvSpPr>
        <p:spPr>
          <a:xfrm>
            <a:off x="7751298" y="4332849"/>
            <a:ext cx="38686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Использование:</a:t>
            </a:r>
            <a:endParaRPr lang="ru-RU" dirty="0"/>
          </a:p>
          <a:p>
            <a:r>
              <a:rPr lang="ru-RU" dirty="0"/>
              <a:t>Наложение элементов (картинки с текстом)</a:t>
            </a:r>
          </a:p>
          <a:p>
            <a:r>
              <a:rPr lang="ru-RU" dirty="0"/>
              <a:t>Создание сложных комбинаций</a:t>
            </a:r>
          </a:p>
          <a:p>
            <a:r>
              <a:rPr lang="ru-RU" dirty="0"/>
              <a:t>Управление слоями с помощью </a:t>
            </a:r>
            <a:r>
              <a:rPr lang="ru-RU" dirty="0" err="1"/>
              <a:t>zIndex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0985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DE763C-6F76-5BDA-DBB3-F0EE514B1A16}"/>
              </a:ext>
            </a:extLst>
          </p:cNvPr>
          <p:cNvSpPr txBox="1"/>
          <p:nvPr/>
        </p:nvSpPr>
        <p:spPr>
          <a:xfrm>
            <a:off x="3559126" y="0"/>
            <a:ext cx="535979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 </a:t>
            </a:r>
            <a:r>
              <a:rPr lang="en-US" sz="2000" dirty="0" err="1">
                <a:latin typeface="Bahnschrift" panose="020B0502040204020203" pitchFamily="34" charset="0"/>
              </a:rPr>
              <a:t>GeometryReader</a:t>
            </a:r>
            <a:r>
              <a:rPr lang="en-US" sz="2000" dirty="0">
                <a:latin typeface="Bahnschrift" panose="020B0502040204020203" pitchFamily="34" charset="0"/>
              </a:rPr>
              <a:t> - </a:t>
            </a:r>
            <a:r>
              <a:rPr lang="ru-RU" sz="2000" dirty="0">
                <a:latin typeface="Bahnschrift" panose="020B0502040204020203" pitchFamily="34" charset="0"/>
              </a:rPr>
              <a:t>доступ к геометрии и размерам</a:t>
            </a:r>
          </a:p>
          <a:p>
            <a:pPr algn="ctr"/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дизайн, смартф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CC47D5-B7D0-531D-A687-C138300D5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38" y="1236518"/>
            <a:ext cx="5834562" cy="40740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B01E1F-A4FB-3442-530E-DE6379491586}"/>
              </a:ext>
            </a:extLst>
          </p:cNvPr>
          <p:cNvSpPr txBox="1"/>
          <p:nvPr/>
        </p:nvSpPr>
        <p:spPr>
          <a:xfrm>
            <a:off x="7147547" y="3429000"/>
            <a:ext cx="47830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Возможности:</a:t>
            </a:r>
            <a:endParaRPr lang="ru-RU" dirty="0"/>
          </a:p>
          <a:p>
            <a:r>
              <a:rPr lang="ru-RU" dirty="0"/>
              <a:t>Получение размеров родительского контейнера</a:t>
            </a:r>
          </a:p>
          <a:p>
            <a:r>
              <a:rPr lang="ru-RU" dirty="0"/>
              <a:t>Доступ к </a:t>
            </a:r>
            <a:r>
              <a:rPr lang="ru-RU" dirty="0" err="1"/>
              <a:t>safe</a:t>
            </a:r>
            <a:r>
              <a:rPr lang="ru-RU" dirty="0"/>
              <a:t> </a:t>
            </a:r>
            <a:r>
              <a:rPr lang="ru-RU" dirty="0" err="1"/>
              <a:t>area</a:t>
            </a:r>
            <a:r>
              <a:rPr lang="ru-RU" dirty="0"/>
              <a:t> </a:t>
            </a:r>
            <a:r>
              <a:rPr lang="ru-RU" dirty="0" err="1"/>
              <a:t>insets</a:t>
            </a:r>
            <a:endParaRPr lang="ru-RU" dirty="0"/>
          </a:p>
          <a:p>
            <a:r>
              <a:rPr lang="ru-RU" dirty="0"/>
              <a:t>Реагирование на изменения размера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66178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121</Words>
  <Application>Microsoft Office PowerPoint</Application>
  <PresentationFormat>Широкоэкранный</PresentationFormat>
  <Paragraphs>21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Bahnschrift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2026-02-02T11:42:22Z</dcterms:created>
  <dcterms:modified xsi:type="dcterms:W3CDTF">2026-02-02T13:26:15Z</dcterms:modified>
</cp:coreProperties>
</file>